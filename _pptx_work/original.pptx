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521" r:id="rId1"/>
  </p:sldMasterIdLst>
  <p:notesMasterIdLst>
    <p:notesMasterId r:id="rId8"/>
  </p:notesMasterIdLst>
  <p:sldIdLst>
    <p:sldId id="293" r:id="rId2"/>
    <p:sldId id="366" r:id="rId3"/>
    <p:sldId id="364" r:id="rId4"/>
    <p:sldId id="334" r:id="rId5"/>
    <p:sldId id="363" r:id="rId6"/>
    <p:sldId id="323" r:id="rId7"/>
  </p:sldIdLst>
  <p:sldSz cx="9144000" cy="6858000" type="screen4x3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6F11A1-87D6-A68B-A0DE-9EF93676E9F0}" name="지승 이" initials="지이" userId="0832c7b7d5fb3576" providerId="Windows Live"/>
  <p188:author id="{442302C1-E41F-6651-EB1B-3679A1510800}" name="sky2604" initials="s" userId="sky2604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6518" autoAdjust="0"/>
  </p:normalViewPr>
  <p:slideViewPr>
    <p:cSldViewPr>
      <p:cViewPr varScale="1">
        <p:scale>
          <a:sx n="72" d="100"/>
          <a:sy n="72" d="100"/>
        </p:scale>
        <p:origin x="1494" y="54"/>
      </p:cViewPr>
      <p:guideLst>
        <p:guide orient="horz" pos="2151"/>
        <p:guide pos="2877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F463667-905A-49A5-B13D-C1B168FD0A8A}" type="datetime1">
              <a:rPr lang="ko-KR" altLang="en-US" smtClean="0"/>
              <a:pPr>
                <a:defRPr/>
              </a:pPr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2BDB58-363F-47A1-AEBB-CB268C39851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76AA-D77B-93E2-3298-38507F44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61B634-27DC-2800-86AF-B80B9389E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6E7877-0CD2-517F-295C-8132D6ED3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668DED-6FC3-060A-B4AD-EBC169554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72BDB58-363F-47A1-AEBB-CB268C39851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81EA-BB57-9030-54EA-A88D3A62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7737E-C29B-D3C4-4994-4555094BF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F47616-CDD1-CA7F-1C1B-7AF4A07B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F3E7A-CA29-24A1-A998-6A9563C43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72BDB58-363F-47A1-AEBB-CB268C39851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2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28231-0BEE-6B4B-9C70-5AC20264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1166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/>
          <p:cNvSpPr>
            <a:spLocks noChangeShapeType="1"/>
          </p:cNvSpPr>
          <p:nvPr userDrawn="1"/>
        </p:nvSpPr>
        <p:spPr bwMode="auto">
          <a:xfrm>
            <a:off x="142875" y="587375"/>
            <a:ext cx="889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개체 틀 1"/>
          <p:cNvSpPr>
            <a:spLocks noGrp="1"/>
          </p:cNvSpPr>
          <p:nvPr>
            <p:ph type="title"/>
          </p:nvPr>
        </p:nvSpPr>
        <p:spPr bwMode="auto">
          <a:xfrm>
            <a:off x="250825" y="116632"/>
            <a:ext cx="8229600" cy="405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1" fontAlgn="base" latinLnBrk="1" hangingPunct="1">
              <a:spcBef>
                <a:spcPct val="50000"/>
              </a:spcBef>
              <a:spcAft>
                <a:spcPct val="0"/>
              </a:spcAft>
              <a:defRPr kumimoji="0" lang="ko-KR" altLang="en-US" sz="2500" b="0" i="0" kern="1200" dirty="0" smtClean="0">
                <a:solidFill>
                  <a:schemeClr val="tx1"/>
                </a:solidFill>
                <a:latin typeface=" 맑은 고딕"/>
                <a:ea typeface="맑은 고딕" panose="020B0503020000020004" pitchFamily="50" charset="-127"/>
                <a:cs typeface="Calibri" panose="020F0502020204030204" pitchFamily="34" charset="0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969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평행 사변형 8"/>
          <p:cNvSpPr/>
          <p:nvPr userDrawn="1"/>
        </p:nvSpPr>
        <p:spPr>
          <a:xfrm>
            <a:off x="1134590" y="6596063"/>
            <a:ext cx="7583960" cy="261937"/>
          </a:xfrm>
          <a:prstGeom prst="parallelogram">
            <a:avLst>
              <a:gd name="adj" fmla="val 16111"/>
            </a:avLst>
          </a:prstGeom>
          <a:gradFill>
            <a:gsLst>
              <a:gs pos="0">
                <a:schemeClr val="tx2">
                  <a:lumMod val="0"/>
                  <a:lumOff val="100000"/>
                </a:schemeClr>
              </a:gs>
              <a:gs pos="50000">
                <a:srgbClr val="5B99FF"/>
              </a:gs>
              <a:gs pos="100000">
                <a:srgbClr val="0091D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7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</a:t>
            </a:r>
            <a:r>
              <a:rPr lang="ko-KR" altLang="en-US"/>
              <a:t>스타일 편집</a:t>
            </a:r>
            <a:endParaRPr lang="ko-KR" altLang="en-US" dirty="0"/>
          </a:p>
        </p:txBody>
      </p:sp>
      <p:sp>
        <p:nvSpPr>
          <p:cNvPr id="8" name="TextBox 9"/>
          <p:cNvSpPr txBox="1">
            <a:spLocks noChangeArrowheads="1"/>
          </p:cNvSpPr>
          <p:nvPr userDrawn="1"/>
        </p:nvSpPr>
        <p:spPr bwMode="auto">
          <a:xfrm>
            <a:off x="1588" y="6526213"/>
            <a:ext cx="1133002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2600" i="1">
                <a:gradFill>
                  <a:gsLst>
                    <a:gs pos="0">
                      <a:schemeClr val="tx2">
                        <a:lumMod val="0"/>
                        <a:lumOff val="100000"/>
                      </a:schemeClr>
                    </a:gs>
                    <a:gs pos="50000">
                      <a:srgbClr val="5B99FF"/>
                    </a:gs>
                    <a:gs pos="100000">
                      <a:srgbClr val="0091DA"/>
                    </a:gs>
                  </a:gsLst>
                  <a:lin ang="5400000" scaled="0"/>
                </a:gradFill>
                <a:latin typeface="Franklin Gothic Heavy" pitchFamily="34" charset="0"/>
                <a:ea typeface="맑은 고딕" panose="020B0503020000020004" pitchFamily="50" charset="-127"/>
              </a:rPr>
              <a:t>Mach 5</a:t>
            </a:r>
            <a:endParaRPr lang="ko-KR" altLang="en-US" sz="2600" i="1" dirty="0">
              <a:gradFill>
                <a:gsLst>
                  <a:gs pos="0">
                    <a:schemeClr val="tx2">
                      <a:lumMod val="0"/>
                      <a:lumOff val="100000"/>
                    </a:schemeClr>
                  </a:gs>
                  <a:gs pos="50000">
                    <a:srgbClr val="5B99FF"/>
                  </a:gs>
                  <a:gs pos="100000">
                    <a:srgbClr val="0091DA"/>
                  </a:gs>
                </a:gsLst>
                <a:lin ang="5400000" scaled="0"/>
              </a:gradFill>
              <a:latin typeface="Franklin Gothic Heavy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459788" y="6596063"/>
            <a:ext cx="684212" cy="261937"/>
          </a:xfrm>
          <a:prstGeom prst="rect">
            <a:avLst/>
          </a:prstGeom>
          <a:gradFill>
            <a:gsLst>
              <a:gs pos="0">
                <a:schemeClr val="tx2">
                  <a:lumMod val="0"/>
                  <a:lumOff val="100000"/>
                </a:schemeClr>
              </a:gs>
              <a:gs pos="50000">
                <a:srgbClr val="5B99FF"/>
              </a:gs>
              <a:gs pos="100000">
                <a:srgbClr val="0091D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 userDrawn="1"/>
        </p:nvSpPr>
        <p:spPr bwMode="auto">
          <a:xfrm>
            <a:off x="1101252" y="6596063"/>
            <a:ext cx="59190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2026 Spring Semester Capstone</a:t>
            </a:r>
            <a:r>
              <a:rPr lang="ko-KR" altLang="en-US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Design Mid-term</a:t>
            </a:r>
            <a:r>
              <a:rPr lang="ko-KR" altLang="en-US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Presentation</a:t>
            </a:r>
            <a:endParaRPr lang="ko-KR" altLang="en-US" sz="1400" i="1" dirty="0">
              <a:solidFill>
                <a:schemeClr val="bg1"/>
              </a:solidFill>
              <a:latin typeface="Franklin Gothic Heavy" pitchFamily="34" charset="0"/>
              <a:ea typeface="맑은 고딕" panose="020B0503020000020004" pitchFamily="50" charset="-127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 userDrawn="1"/>
        </p:nvSpPr>
        <p:spPr bwMode="auto">
          <a:xfrm>
            <a:off x="8459788" y="6575425"/>
            <a:ext cx="73501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fld id="{31E6212C-0CEC-4ECC-B11B-28C0C91599B1}" type="slidenum">
              <a:rPr lang="en-US" altLang="ko-KR" sz="1600" b="1" smtClean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eaLnBrk="1" latin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1600" b="1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/28</a:t>
            </a:r>
            <a:endParaRPr lang="en-US" altLang="ko-KR" sz="16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024EC3-5997-42EF-3C1A-A6F55EC486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04448" y="32489"/>
            <a:ext cx="539551" cy="5371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1E9B-0B24-34C2-225D-530DBC82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ko-KR" altLang="en-US" b="1"/>
              <a:t>항공전자</a:t>
            </a:r>
          </a:p>
        </p:txBody>
      </p:sp>
    </p:spTree>
    <p:extLst>
      <p:ext uri="{BB962C8B-B14F-4D97-AF65-F5344CB8AC3E}">
        <p14:creationId xmlns:p14="http://schemas.microsoft.com/office/powerpoint/2010/main" val="97948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CCA4-F79F-85C6-9F93-BDAAA895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BDBB1D-D16C-9EB9-4622-23F35AF8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Error-State Extended</a:t>
            </a:r>
            <a:r>
              <a:rPr lang="ko-KR" altLang="en-US" b="1" dirty="0"/>
              <a:t> </a:t>
            </a:r>
            <a:r>
              <a:rPr lang="en-US" altLang="ko-KR" b="1" dirty="0"/>
              <a:t>Kalman</a:t>
            </a:r>
            <a:r>
              <a:rPr lang="ko-KR" altLang="en-US" b="1" dirty="0"/>
              <a:t> </a:t>
            </a:r>
            <a:r>
              <a:rPr lang="en-US" altLang="ko-KR" b="1" dirty="0"/>
              <a:t>Filter</a:t>
            </a:r>
            <a:endParaRPr lang="ko-KR" altLang="en-US" b="1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B1F053D-30BC-98E6-6D56-99B175EB7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916832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0D4D5B-4681-1CA0-04E7-D82AE466B549}"/>
              </a:ext>
            </a:extLst>
          </p:cNvPr>
          <p:cNvSpPr txBox="1"/>
          <p:nvPr/>
        </p:nvSpPr>
        <p:spPr bwMode="auto">
          <a:xfrm>
            <a:off x="242711" y="1384800"/>
            <a:ext cx="2961137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  <a:ea typeface="+mn-ea"/>
              </a:rPr>
              <a:t>기존</a:t>
            </a:r>
            <a:endParaRPr lang="en-US" altLang="ko-KR" b="1" dirty="0"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TRIAD </a:t>
            </a: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알고리즘으로 초기 자세 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q₀</a:t>
            </a: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만 결정 후 즉시 비행 시작</a:t>
            </a:r>
            <a:endParaRPr lang="en-US" altLang="ko-KR" sz="1400" dirty="0">
              <a:solidFill>
                <a:srgbClr val="1E293B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1E293B"/>
                </a:solidFill>
                <a:latin typeface="+mn-ea"/>
                <a:ea typeface="+mn-ea"/>
              </a:rPr>
              <a:t>문제</a:t>
            </a:r>
            <a:endParaRPr lang="en-US" altLang="ko-KR" dirty="0">
              <a:solidFill>
                <a:srgbClr val="1E293B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비행 중에는 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IMU </a:t>
            </a: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바이어스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(</a:t>
            </a:r>
            <a:r>
              <a:rPr lang="en-US" altLang="ko-KR" sz="1400" dirty="0" err="1">
                <a:solidFill>
                  <a:srgbClr val="1E293B"/>
                </a:solidFill>
                <a:latin typeface="+mn-ea"/>
                <a:ea typeface="+mn-ea"/>
              </a:rPr>
              <a:t>b_a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, </a:t>
            </a:r>
            <a:r>
              <a:rPr lang="en-US" altLang="ko-KR" sz="1400" dirty="0" err="1">
                <a:solidFill>
                  <a:srgbClr val="1E293B"/>
                </a:solidFill>
                <a:latin typeface="+mn-ea"/>
                <a:ea typeface="+mn-ea"/>
              </a:rPr>
              <a:t>b_g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)</a:t>
            </a: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의 관측성이 매우 낮음</a:t>
            </a:r>
            <a:endParaRPr lang="en-US" altLang="ko-KR" sz="1400" dirty="0">
              <a:solidFill>
                <a:srgbClr val="1E293B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1E293B"/>
                </a:solidFill>
                <a:latin typeface="+mn-ea"/>
                <a:ea typeface="+mn-ea"/>
              </a:rPr>
              <a:t>결과</a:t>
            </a:r>
            <a:endParaRPr lang="en-US" altLang="ko-KR" dirty="0">
              <a:solidFill>
                <a:srgbClr val="1E293B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바이어스가 추정에 섞여 자세</a:t>
            </a:r>
            <a:r>
              <a:rPr lang="en-US" altLang="ko-KR" sz="1400" dirty="0">
                <a:solidFill>
                  <a:srgbClr val="1E293B"/>
                </a:solidFill>
                <a:latin typeface="+mn-ea"/>
                <a:ea typeface="+mn-ea"/>
              </a:rPr>
              <a:t>·</a:t>
            </a:r>
            <a:r>
              <a:rPr lang="ko-KR" altLang="en-US" sz="1400" dirty="0">
                <a:solidFill>
                  <a:srgbClr val="1E293B"/>
                </a:solidFill>
                <a:latin typeface="+mn-ea"/>
                <a:ea typeface="+mn-ea"/>
              </a:rPr>
              <a:t>속도 오차로 누적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37FD1-95D6-4008-7202-A66F7FDB2404}"/>
                  </a:ext>
                </a:extLst>
              </p:cNvPr>
              <p:cNvSpPr txBox="1"/>
              <p:nvPr/>
            </p:nvSpPr>
            <p:spPr bwMode="auto">
              <a:xfrm>
                <a:off x="4572000" y="1595492"/>
                <a:ext cx="2961137" cy="185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+mn-ea"/>
                    <a:ea typeface="+mn-ea"/>
                  </a:rPr>
                  <a:t>현재</a:t>
                </a:r>
                <a:endParaRPr lang="en-US" altLang="ko-KR" b="1" dirty="0"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solidFill>
                      <a:srgbClr val="1E293B"/>
                    </a:solidFill>
                    <a:latin typeface="+mn-ea"/>
                    <a:ea typeface="+mn-ea"/>
                  </a:rPr>
                  <a:t>발사전</a:t>
                </a:r>
                <a:r>
                  <a:rPr lang="ko-KR" altLang="en-US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 정지 상태에서 </a:t>
                </a:r>
                <a:r>
                  <a:rPr lang="en-US" altLang="ko-KR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4</a:t>
                </a:r>
                <a:r>
                  <a:rPr lang="ko-KR" altLang="en-US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가지 강제 조건을 가상 측정으로 주입하여 바이어스 수렴 후 발사</a:t>
                </a:r>
                <a:endParaRPr lang="en-US" altLang="ko-KR" sz="1400" dirty="0">
                  <a:solidFill>
                    <a:srgbClr val="1E293B"/>
                  </a:solidFill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강제 조건 </a:t>
                </a:r>
                <a:r>
                  <a:rPr lang="en-US" altLang="ko-KR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v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+mn-ea"/>
                      </a:rPr>
                      <m:t>=0 , </m:t>
                    </m:r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𝑔</m:t>
                        </m:r>
                        <m: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,   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𝑤</m:t>
                        </m:r>
                      </m:e>
                    </m:acc>
                    <m:r>
                      <a:rPr lang="en-US" altLang="ko-KR" sz="1400" b="0" i="1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endParaRPr lang="en-US" altLang="ko-KR" sz="1400" dirty="0">
                  <a:solidFill>
                    <a:srgbClr val="1E293B"/>
                  </a:solidFill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solidFill>
                      <a:srgbClr val="1E293B"/>
                    </a:solidFill>
                    <a:latin typeface="+mn-ea"/>
                    <a:ea typeface="+mn-ea"/>
                  </a:rPr>
                  <a:t>발사전</a:t>
                </a:r>
                <a:r>
                  <a:rPr lang="ko-KR" altLang="en-US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dirty="0" err="1">
                    <a:solidFill>
                      <a:srgbClr val="1E293B"/>
                    </a:solidFill>
                    <a:latin typeface="+mn-ea"/>
                    <a:ea typeface="+mn-ea"/>
                  </a:rPr>
                  <a:t>오차공분산</a:t>
                </a:r>
                <a:r>
                  <a:rPr lang="ko-KR" altLang="en-US" sz="1400" dirty="0">
                    <a:solidFill>
                      <a:srgbClr val="1E293B"/>
                    </a:solidFill>
                    <a:latin typeface="+mn-ea"/>
                    <a:ea typeface="+mn-ea"/>
                  </a:rPr>
                  <a:t> 및 바이어스의 수렴으로 인해 더 정확한 상태추정 가능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F37FD1-95D6-4008-7202-A66F7FDB2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1595492"/>
                <a:ext cx="2961137" cy="1854354"/>
              </a:xfrm>
              <a:prstGeom prst="rect">
                <a:avLst/>
              </a:prstGeom>
              <a:blipFill>
                <a:blip r:embed="rId3"/>
                <a:stretch>
                  <a:fillRect l="-2058" t="-1974" b="-36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7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C16F-8C17-F622-E895-EED2EB68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FBDE5E8-F6FC-5790-E454-1C8064B8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Error-State Extended</a:t>
            </a:r>
            <a:r>
              <a:rPr lang="ko-KR" altLang="en-US" b="1" dirty="0"/>
              <a:t> </a:t>
            </a:r>
            <a:r>
              <a:rPr lang="en-US" altLang="ko-KR" b="1" dirty="0"/>
              <a:t>Kalman</a:t>
            </a:r>
            <a:r>
              <a:rPr lang="ko-KR" altLang="en-US" b="1" dirty="0"/>
              <a:t> </a:t>
            </a:r>
            <a:r>
              <a:rPr lang="en-US" altLang="ko-KR" b="1" dirty="0"/>
              <a:t>Filter</a:t>
            </a:r>
            <a:endParaRPr lang="ko-KR" altLang="en-US" b="1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9AAD7B5-1F77-74A7-73F4-3CA35024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916832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94C3BF-0987-E3BA-28D6-E46CC1EE1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347975" cy="495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6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A4CD6-0F6F-CC61-BDCD-13ABE9F1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향후 계획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1F5FA2-73F8-F009-5CC8-B6D181E8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2385"/>
            <a:ext cx="9144000" cy="26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F5A20-E485-A85F-7CA9-3155A560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altLang="ko-KR" b="1"/>
              <a:t>Q &amp; A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80621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D679-C5FB-9297-1B98-0579DB07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ko-KR" altLang="en-US" b="1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8973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algn="l">
          <a:defRPr kumimoji="0" sz="160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11750</TotalTime>
  <Words>95</Words>
  <Application>Microsoft Office PowerPoint</Application>
  <PresentationFormat>화면 슬라이드 쇼(4:3)</PresentationFormat>
  <Paragraphs>18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 맑은 고딕</vt:lpstr>
      <vt:lpstr>굴림</vt:lpstr>
      <vt:lpstr>맑은 고딕</vt:lpstr>
      <vt:lpstr>Arial</vt:lpstr>
      <vt:lpstr>Cambria Math</vt:lpstr>
      <vt:lpstr>Franklin Gothic Heavy</vt:lpstr>
      <vt:lpstr>Office 테마</vt:lpstr>
      <vt:lpstr>항공전자</vt:lpstr>
      <vt:lpstr>Error-State Extended Kalman Filter</vt:lpstr>
      <vt:lpstr>Error-State Extended Kalman Filter</vt:lpstr>
      <vt:lpstr>향후 계획</vt:lpstr>
      <vt:lpstr>Q &amp; A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yes</dc:creator>
  <cp:lastModifiedBy>귀동 옥</cp:lastModifiedBy>
  <cp:revision>1915</cp:revision>
  <dcterms:created xsi:type="dcterms:W3CDTF">2010-10-01T13:05:05Z</dcterms:created>
  <dcterms:modified xsi:type="dcterms:W3CDTF">2026-05-05T12:18:04Z</dcterms:modified>
  <cp:version/>
</cp:coreProperties>
</file>