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521" r:id="rId1"/>
  </p:sldMasterIdLst>
  <p:notesMasterIdLst>
    <p:notesMasterId r:id="rId8"/>
  </p:notesMasterIdLst>
  <p:sldIdLst>
    <p:sldId id="293" r:id="rId2"/>
    <p:sldId id="366" r:id="rId3"/>
    <p:sldId id="364" r:id="rId4"/>
    <p:sldId id="334" r:id="rId5"/>
    <p:sldId id="363" r:id="rId6"/>
    <p:sldId id="323" r:id="rId7"/>
  </p:sldIdLst>
  <p:sldSz cx="9144000" cy="6858000" type="screen4x3"/>
  <p:notesSz cx="6797675" cy="9928225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/>
        <a:ea typeface="맑은 고딕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/>
        <a:ea typeface="맑은 고딕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/>
        <a:ea typeface="맑은 고딕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/>
        <a:ea typeface="맑은 고딕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/>
        <a:ea typeface="맑은 고딕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/>
        <a:ea typeface="맑은 고딕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/>
        <a:ea typeface="맑은 고딕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/>
        <a:ea typeface="맑은 고딕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>
          <p15:clr>
            <a:srgbClr val="A4A3A4"/>
          </p15:clr>
        </p15:guide>
        <p15:guide id="2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76F11A1-87D6-A68B-A0DE-9EF93676E9F0}" name="지승 이" initials="지이" userId="0832c7b7d5fb3576" providerId="Windows Live"/>
  <p188:author id="{442302C1-E41F-6651-EB1B-3679A1510800}" name="sky2604" initials="s" userId="sky2604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1A66EDD-3DAB-4C5B-A090-DC80EC1FD486}" styleName="Normal Style 1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lum val="9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lum val="8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lum val="8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99" autoAdjust="0"/>
    <p:restoredTop sz="86518" autoAdjust="0"/>
  </p:normalViewPr>
  <p:slideViewPr>
    <p:cSldViewPr>
      <p:cViewPr varScale="1">
        <p:scale>
          <a:sx n="72" d="100"/>
          <a:sy n="72" d="100"/>
        </p:scale>
        <p:origin x="1494" y="54"/>
      </p:cViewPr>
      <p:guideLst>
        <p:guide orient="horz" pos="2151"/>
        <p:guide pos="2877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2964" y="48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8/10/relationships/authors" Target="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4F463667-905A-49A5-B13D-C1B168FD0A8A}" type="datetime1">
              <a:rPr lang="ko-KR" altLang="en-US" smtClean="0"/>
              <a:pPr>
                <a:defRPr/>
              </a:pPr>
              <a:t>2026-05-05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4050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2BDB58-363F-47A1-AEBB-CB268C398513}" type="slidenum">
              <a:rPr lang="ko-KR" altLang="en-US" smtClean="0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476AA-D77B-93E2-3298-38507F441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B61B634-27DC-2800-86AF-B80B9389E6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16E7877-0CD2-517F-295C-8132D6ED3E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668DED-6FC3-060A-B4AD-EBC1695546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72BDB58-363F-47A1-AEBB-CB268C398513}" type="slidenum">
              <a:rPr lang="ko-KR" altLang="en-US" smtClean="0"/>
              <a:pPr lvl="0"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793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E81EA-BB57-9030-54EA-A88D3A6231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DC7737E-C29B-D3C4-4994-4555094BFA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2F47616-CDD1-CA7F-1C1B-7AF4A07B09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0F3E7A-CA29-24A1-A998-6A9563C438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72BDB58-363F-47A1-AEBB-CB268C398513}" type="slidenum">
              <a:rPr lang="ko-KR" altLang="en-US" smtClean="0"/>
              <a:pPr lvl="0"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621486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28231-0BEE-6B4B-9C70-5AC20264F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611663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ne 3"/>
          <p:cNvSpPr>
            <a:spLocks noChangeShapeType="1"/>
          </p:cNvSpPr>
          <p:nvPr userDrawn="1"/>
        </p:nvSpPr>
        <p:spPr bwMode="auto">
          <a:xfrm>
            <a:off x="142875" y="587375"/>
            <a:ext cx="8893175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제목 개체 틀 1"/>
          <p:cNvSpPr>
            <a:spLocks noGrp="1"/>
          </p:cNvSpPr>
          <p:nvPr>
            <p:ph type="title"/>
          </p:nvPr>
        </p:nvSpPr>
        <p:spPr bwMode="auto">
          <a:xfrm>
            <a:off x="250825" y="116632"/>
            <a:ext cx="8229600" cy="4056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rtl="0" eaLnBrk="1" fontAlgn="base" latinLnBrk="1" hangingPunct="1">
              <a:spcBef>
                <a:spcPct val="50000"/>
              </a:spcBef>
              <a:spcAft>
                <a:spcPct val="0"/>
              </a:spcAft>
              <a:defRPr kumimoji="0" lang="ko-KR" altLang="en-US" sz="2500" b="0" i="0" kern="1200" dirty="0" smtClean="0">
                <a:solidFill>
                  <a:schemeClr val="tx1"/>
                </a:solidFill>
                <a:latin typeface=" 맑은 고딕"/>
                <a:ea typeface="맑은 고딕" panose="020B0503020000020004" pitchFamily="50" charset="-127"/>
                <a:cs typeface="Calibri" panose="020F0502020204030204" pitchFamily="34" charset="0"/>
              </a:defRPr>
            </a:lvl1pPr>
          </a:lstStyle>
          <a:p>
            <a:pPr lvl="0"/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59693077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평행 사변형 8"/>
          <p:cNvSpPr/>
          <p:nvPr userDrawn="1"/>
        </p:nvSpPr>
        <p:spPr>
          <a:xfrm>
            <a:off x="1134590" y="6596063"/>
            <a:ext cx="7583960" cy="261937"/>
          </a:xfrm>
          <a:prstGeom prst="parallelogram">
            <a:avLst>
              <a:gd name="adj" fmla="val 16111"/>
            </a:avLst>
          </a:prstGeom>
          <a:gradFill>
            <a:gsLst>
              <a:gs pos="0">
                <a:schemeClr val="tx2">
                  <a:lumMod val="0"/>
                  <a:lumOff val="100000"/>
                </a:schemeClr>
              </a:gs>
              <a:gs pos="50000">
                <a:srgbClr val="5B99FF"/>
              </a:gs>
              <a:gs pos="100000">
                <a:srgbClr val="0091D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1027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 xml:space="preserve">마스터 제목 </a:t>
            </a:r>
            <a:r>
              <a:rPr lang="ko-KR" altLang="en-US"/>
              <a:t>스타일 편집</a:t>
            </a:r>
            <a:endParaRPr lang="ko-KR" altLang="en-US" dirty="0"/>
          </a:p>
        </p:txBody>
      </p:sp>
      <p:sp>
        <p:nvSpPr>
          <p:cNvPr id="8" name="TextBox 9"/>
          <p:cNvSpPr txBox="1">
            <a:spLocks noChangeArrowheads="1"/>
          </p:cNvSpPr>
          <p:nvPr userDrawn="1"/>
        </p:nvSpPr>
        <p:spPr bwMode="auto">
          <a:xfrm>
            <a:off x="1588" y="6526213"/>
            <a:ext cx="1133002" cy="4001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sz="2600" i="1">
                <a:gradFill>
                  <a:gsLst>
                    <a:gs pos="0">
                      <a:schemeClr val="tx2">
                        <a:lumMod val="0"/>
                        <a:lumOff val="100000"/>
                      </a:schemeClr>
                    </a:gs>
                    <a:gs pos="50000">
                      <a:srgbClr val="5B99FF"/>
                    </a:gs>
                    <a:gs pos="100000">
                      <a:srgbClr val="0091DA"/>
                    </a:gs>
                  </a:gsLst>
                  <a:lin ang="5400000" scaled="0"/>
                </a:gradFill>
                <a:latin typeface="Franklin Gothic Heavy" pitchFamily="34" charset="0"/>
                <a:ea typeface="맑은 고딕" panose="020B0503020000020004" pitchFamily="50" charset="-127"/>
              </a:rPr>
              <a:t>Mach 5</a:t>
            </a:r>
            <a:endParaRPr lang="ko-KR" altLang="en-US" sz="2600" i="1" dirty="0">
              <a:gradFill>
                <a:gsLst>
                  <a:gs pos="0">
                    <a:schemeClr val="tx2">
                      <a:lumMod val="0"/>
                      <a:lumOff val="100000"/>
                    </a:schemeClr>
                  </a:gs>
                  <a:gs pos="50000">
                    <a:srgbClr val="5B99FF"/>
                  </a:gs>
                  <a:gs pos="100000">
                    <a:srgbClr val="0091DA"/>
                  </a:gs>
                </a:gsLst>
                <a:lin ang="5400000" scaled="0"/>
              </a:gradFill>
              <a:latin typeface="Franklin Gothic Heavy" pitchFamily="34" charset="0"/>
              <a:ea typeface="맑은 고딕" panose="020B0503020000020004" pitchFamily="50" charset="-127"/>
            </a:endParaRPr>
          </a:p>
        </p:txBody>
      </p:sp>
      <p:sp>
        <p:nvSpPr>
          <p:cNvPr id="7" name="직사각형 6"/>
          <p:cNvSpPr/>
          <p:nvPr userDrawn="1"/>
        </p:nvSpPr>
        <p:spPr>
          <a:xfrm>
            <a:off x="8459788" y="6596063"/>
            <a:ext cx="684212" cy="261937"/>
          </a:xfrm>
          <a:prstGeom prst="rect">
            <a:avLst/>
          </a:prstGeom>
          <a:gradFill>
            <a:gsLst>
              <a:gs pos="0">
                <a:schemeClr val="tx2">
                  <a:lumMod val="0"/>
                  <a:lumOff val="100000"/>
                </a:schemeClr>
              </a:gs>
              <a:gs pos="50000">
                <a:srgbClr val="5B99FF"/>
              </a:gs>
              <a:gs pos="100000">
                <a:srgbClr val="0091DA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0" name="TextBox 13"/>
          <p:cNvSpPr txBox="1">
            <a:spLocks noChangeArrowheads="1"/>
          </p:cNvSpPr>
          <p:nvPr userDrawn="1"/>
        </p:nvSpPr>
        <p:spPr bwMode="auto">
          <a:xfrm>
            <a:off x="1101252" y="6596063"/>
            <a:ext cx="5919020" cy="30777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eaLnBrk="1" latinLnBrk="1" hangingPunct="1">
              <a:defRPr/>
            </a:pPr>
            <a:r>
              <a:rPr lang="en-US" altLang="ko-KR" sz="1400" i="1">
                <a:solidFill>
                  <a:schemeClr val="bg1"/>
                </a:solidFill>
                <a:latin typeface="Franklin Gothic Heavy" pitchFamily="34" charset="0"/>
                <a:ea typeface="맑은 고딕" panose="020B0503020000020004" pitchFamily="50" charset="-127"/>
              </a:rPr>
              <a:t>2026 Spring Semester Capstone</a:t>
            </a:r>
            <a:r>
              <a:rPr lang="ko-KR" altLang="en-US" sz="1400" i="1">
                <a:solidFill>
                  <a:schemeClr val="bg1"/>
                </a:solidFill>
                <a:latin typeface="Franklin Gothic Heavy" pitchFamily="34" charset="0"/>
                <a:ea typeface="맑은 고딕" panose="020B0503020000020004" pitchFamily="50" charset="-127"/>
              </a:rPr>
              <a:t xml:space="preserve"> </a:t>
            </a:r>
            <a:r>
              <a:rPr lang="en-US" altLang="ko-KR" sz="1400" i="1">
                <a:solidFill>
                  <a:schemeClr val="bg1"/>
                </a:solidFill>
                <a:latin typeface="Franklin Gothic Heavy" pitchFamily="34" charset="0"/>
                <a:ea typeface="맑은 고딕" panose="020B0503020000020004" pitchFamily="50" charset="-127"/>
              </a:rPr>
              <a:t>Design Mid-term</a:t>
            </a:r>
            <a:r>
              <a:rPr lang="ko-KR" altLang="en-US" sz="1400" i="1">
                <a:solidFill>
                  <a:schemeClr val="bg1"/>
                </a:solidFill>
                <a:latin typeface="Franklin Gothic Heavy" pitchFamily="34" charset="0"/>
                <a:ea typeface="맑은 고딕" panose="020B0503020000020004" pitchFamily="50" charset="-127"/>
              </a:rPr>
              <a:t xml:space="preserve"> </a:t>
            </a:r>
            <a:r>
              <a:rPr lang="en-US" altLang="ko-KR" sz="1400" i="1">
                <a:solidFill>
                  <a:schemeClr val="bg1"/>
                </a:solidFill>
                <a:latin typeface="Franklin Gothic Heavy" pitchFamily="34" charset="0"/>
                <a:ea typeface="맑은 고딕" panose="020B0503020000020004" pitchFamily="50" charset="-127"/>
              </a:rPr>
              <a:t>Presentation</a:t>
            </a:r>
            <a:endParaRPr lang="ko-KR" altLang="en-US" sz="1400" i="1" dirty="0">
              <a:solidFill>
                <a:schemeClr val="bg1"/>
              </a:solidFill>
              <a:latin typeface="Franklin Gothic Heavy" pitchFamily="34" charset="0"/>
              <a:ea typeface="맑은 고딕" panose="020B0503020000020004" pitchFamily="50" charset="-127"/>
            </a:endParaRPr>
          </a:p>
        </p:txBody>
      </p:sp>
      <p:sp>
        <p:nvSpPr>
          <p:cNvPr id="11" name="Text Box 7"/>
          <p:cNvSpPr txBox="1">
            <a:spLocks noChangeArrowheads="1"/>
          </p:cNvSpPr>
          <p:nvPr userDrawn="1"/>
        </p:nvSpPr>
        <p:spPr bwMode="auto">
          <a:xfrm>
            <a:off x="8459788" y="6575425"/>
            <a:ext cx="735012" cy="33855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맑은 고딕" panose="020B0600000101010101" pitchFamily="50" charset="-127"/>
                <a:ea typeface="맑은 고딕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anose="020B0600000101010101" pitchFamily="50" charset="-127"/>
                <a:ea typeface="맑은 고딕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anose="020B0600000101010101" pitchFamily="50" charset="-127"/>
                <a:ea typeface="맑은 고딕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anose="020B0600000101010101" pitchFamily="50" charset="-127"/>
                <a:ea typeface="맑은 고딕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anose="020B0600000101010101" pitchFamily="50" charset="-127"/>
                <a:ea typeface="맑은 고딕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600000101010101" pitchFamily="50" charset="-127"/>
                <a:ea typeface="맑은 고딕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600000101010101" pitchFamily="50" charset="-127"/>
                <a:ea typeface="맑은 고딕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600000101010101" pitchFamily="50" charset="-127"/>
                <a:ea typeface="맑은 고딕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anose="020B0600000101010101" pitchFamily="50" charset="-127"/>
                <a:ea typeface="맑은 고딕" panose="020B0600000101010101" pitchFamily="50" charset="-127"/>
              </a:defRPr>
            </a:lvl9pPr>
          </a:lstStyle>
          <a:p>
            <a:pPr eaLnBrk="1" latinLnBrk="1" hangingPunct="1">
              <a:spcBef>
                <a:spcPct val="50000"/>
              </a:spcBef>
              <a:defRPr/>
            </a:pPr>
            <a:fld id="{31E6212C-0CEC-4ECC-B11B-28C0C91599B1}" type="slidenum">
              <a:rPr lang="en-US" altLang="ko-KR" sz="1600" b="1" smtClean="0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pPr eaLnBrk="1" latinLnBrk="1" hangingPunct="1">
                <a:spcBef>
                  <a:spcPct val="50000"/>
                </a:spcBef>
                <a:defRPr/>
              </a:pPr>
              <a:t>‹#›</a:t>
            </a:fld>
            <a:r>
              <a:rPr lang="en-US" altLang="ko-KR" sz="1600" b="1">
                <a:solidFill>
                  <a:schemeClr val="bg1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/28</a:t>
            </a:r>
            <a:endParaRPr lang="en-US" altLang="ko-KR" sz="1600" b="1" dirty="0">
              <a:solidFill>
                <a:schemeClr val="bg1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  <p:pic>
        <p:nvPicPr>
          <p:cNvPr id="3" name="그림 2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024EC3-5997-42EF-3C1A-A6F55EC4860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604448" y="32489"/>
            <a:ext cx="539551" cy="537174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519" r:id="rId1"/>
    <p:sldLayoutId id="2147484522" r:id="rId2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61C1E9B-0B24-34C2-225D-530DBC8278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ko-KR" altLang="en-US" b="1">
                <a:latin typeface="맑은 고딕"/>
                <a:ea typeface="맑은 고딕"/>
              </a:rPr>
              <a:t>항공전자</a:t>
            </a:r>
          </a:p>
        </p:txBody>
      </p:sp>
      <p:sp>
        <p:nvSpPr>
          <p:cNvPr id="100" name="Subtitle"/>
          <p:cNvSpPr txBox="1"/>
          <p:nvPr/>
        </p:nvSpPr>
        <p:spPr>
          <a:xfrm>
            <a:off x="457200" y="4100000"/>
            <a:ext cx="82296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>
              <a:buNone/>
            </a:pPr>
            <a:r>
              <a:rPr lang="ko-KR" altLang="en-US" sz="1800" dirty="0">
                <a:solidFill>
                  <a:srgbClr val="475569"/>
                </a:solidFill>
                <a:latin typeface="맑은 고딕"/>
                <a:ea typeface="맑은 고딕"/>
              </a:rPr>
              <a:t>26-1 캡스톤디자인  ·  10주차  ·  Mach 5 팀</a:t>
            </a:r>
          </a:p>
        </p:txBody>
      </p:sp>
    </p:spTree>
    <p:extLst>
      <p:ext uri="{BB962C8B-B14F-4D97-AF65-F5344CB8AC3E}">
        <p14:creationId xmlns:p14="http://schemas.microsoft.com/office/powerpoint/2010/main" val="9794863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맑은 고딕"/>
                <a:ea typeface="맑은 고딕"/>
              </a:rPr>
              <a:t>ES-EKF 초기 정렬 기법 비교</a:t>
            </a:r>
          </a:p>
        </p:txBody>
      </p:sp>
      <p:sp>
        <p:nvSpPr>
          <p:cNvPr id="100" name="HeaderLeft"/>
          <p:cNvSpPr txBox="1"/>
          <p:nvPr/>
        </p:nvSpPr>
        <p:spPr>
          <a:xfrm>
            <a:off x="400000" y="1300000"/>
            <a:ext cx="3900000" cy="50000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wrap="square" lIns="180000" tIns="60000" rIns="180000" bIns="60000" anchor="ctr"/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/>
                <a:ea typeface="맑은 고딕"/>
              </a:rPr>
              <a:t>기존 방식 (TRIAD only)</a:t>
            </a:r>
          </a:p>
        </p:txBody>
      </p:sp>
      <p:sp>
        <p:nvSpPr>
          <p:cNvPr id="101" name="HeaderRight"/>
          <p:cNvSpPr txBox="1"/>
          <p:nvPr/>
        </p:nvSpPr>
        <p:spPr>
          <a:xfrm>
            <a:off x="4844000" y="1300000"/>
            <a:ext cx="3900000" cy="500000"/>
          </a:xfrm>
          <a:prstGeom prst="rect">
            <a:avLst/>
          </a:prstGeom>
          <a:solidFill>
            <a:srgbClr val="0F62A6"/>
          </a:solidFill>
          <a:ln>
            <a:noFill/>
          </a:ln>
        </p:spPr>
        <p:txBody>
          <a:bodyPr wrap="square" lIns="180000" tIns="60000" rIns="180000" bIns="60000" anchor="ctr"/>
          <a:lstStyle/>
          <a:p>
            <a:pPr algn="l"/>
            <a:r>
              <a:rPr lang="ko-KR" altLang="en-US" sz="2000" b="1" dirty="0">
                <a:solidFill>
                  <a:srgbClr val="FFFFFF"/>
                </a:solidFill>
                <a:latin typeface="맑은 고딕"/>
                <a:ea typeface="맑은 고딕"/>
              </a:rPr>
              <a:t>개선 방식 (사전 정렬 추가)</a:t>
            </a:r>
          </a:p>
        </p:txBody>
      </p:sp>
      <p:sp>
        <p:nvSpPr>
          <p:cNvPr id="22" name="LeftBody"/>
          <p:cNvSpPr txBox="1"/>
          <p:nvPr/>
        </p:nvSpPr>
        <p:spPr>
          <a:xfrm>
            <a:off x="400000" y="1850000"/>
            <a:ext cx="3900000" cy="4500000"/>
          </a:xfrm>
          <a:prstGeom prst="rect">
            <a:avLst/>
          </a:prstGeom>
          <a:noFill/>
          <a:ln>
            <a:noFill/>
          </a:ln>
        </p:spPr>
        <p:txBody>
          <a:bodyPr wrap="square" lIns="180000" tIns="180000" rIns="180000" bIns="180000" anchor="t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0F172A"/>
                </a:solidFill>
                <a:latin typeface="맑은 고딕"/>
                <a:ea typeface="맑은 고딕"/>
              </a:rPr>
              <a:t>초기화 절차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>TRIAD로 초기 자세 q</a:t>
            </a:r>
            <a:r>
              <a:rPr lang="en-US" altLang="ko-KR" sz="1300" baseline="-25000" dirty="0">
                <a:solidFill>
                  <a:srgbClr val="1E293B"/>
                </a:solidFill>
                <a:latin typeface="맑은 고딕"/>
                <a:ea typeface="맑은 고딕"/>
              </a:rPr>
              <a:t>0</a:t>
            </a: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>만 결정 후 즉시 비행 시작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>가속도 바이어스 b</a:t>
            </a:r>
            <a:r>
              <a:rPr lang="en-US" altLang="ko-KR" sz="1300" baseline="-25000" dirty="0">
                <a:solidFill>
                  <a:srgbClr val="1E293B"/>
                </a:solidFill>
                <a:latin typeface="맑은 고딕"/>
                <a:ea typeface="맑은 고딕"/>
              </a:rPr>
              <a:t>a</a:t>
            </a: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>, 자이로 바이어스 b</a:t>
            </a:r>
            <a:r>
              <a:rPr lang="en-US" altLang="ko-KR" sz="1300" baseline="-25000" dirty="0">
                <a:solidFill>
                  <a:srgbClr val="1E293B"/>
                </a:solidFill>
                <a:latin typeface="맑은 고딕"/>
                <a:ea typeface="맑은 고딕"/>
              </a:rPr>
              <a:t>g</a:t>
            </a: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 xml:space="preserve"> 초기값 0으로 출발</a:t>
            </a:r>
          </a:p>
          <a:p>
            <a:pPr marL="0" indent="0">
              <a:spcBef>
                <a:spcPts val="900"/>
              </a:spcBef>
              <a:buNone/>
            </a:pPr>
            <a:r>
              <a:rPr lang="ko-KR" altLang="en-US" sz="1500" b="1" dirty="0">
                <a:solidFill>
                  <a:srgbClr val="B91C1C"/>
                </a:solidFill>
                <a:latin typeface="맑은 고딕"/>
                <a:ea typeface="맑은 고딕"/>
              </a:rPr>
              <a:t>한계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>비행 중 IMU 바이어스 관측성 매우 낮음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>모터 점화 구간(&gt;4g)에서 GPS 가중치 최대 1000배 감쇠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>바이어스가 자세·속도 오차로 누적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>P가 실제 오차 대비 작아 필터 과신(NEES 발산)</a:t>
            </a:r>
          </a:p>
        </p:txBody>
      </p:sp>
      <p:sp>
        <p:nvSpPr>
          <p:cNvPr id="4" name="RightBody"/>
          <p:cNvSpPr txBox="1"/>
          <p:nvPr/>
        </p:nvSpPr>
        <p:spPr>
          <a:xfrm>
            <a:off x="4844000" y="1850000"/>
            <a:ext cx="3900000" cy="45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80000" tIns="180000" rIns="180000" bIns="180000" anchor="t"/>
          <a:lstStyle/>
          <a:p>
            <a:pPr marL="0" indent="0">
              <a:buNone/>
            </a:pPr>
            <a:r>
              <a:rPr lang="ko-KR" altLang="en-US" sz="1500" b="1" dirty="0">
                <a:solidFill>
                  <a:srgbClr val="0F172A"/>
                </a:solidFill>
                <a:latin typeface="맑은 고딕"/>
                <a:ea typeface="맑은 고딕"/>
              </a:rPr>
              <a:t>초기화 절차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>TRIAD 초기 자세 + 발사 전 자동 정렬 루프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>정지 상태의 강제 조건을 가상 측정으로 주입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ko-KR" altLang="en-US" sz="1500" b="1" dirty="0">
                <a:solidFill>
                  <a:srgbClr val="0F62A6"/>
                </a:solidFill>
                <a:latin typeface="맑은 고딕"/>
                <a:ea typeface="맑은 고딕"/>
              </a:rPr>
              <a:t>4가지 강제 조건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en-US" altLang="ko-KR" sz="1300" b="1" dirty="0">
                <a:solidFill>
                  <a:srgbClr val="0F172A"/>
                </a:solidFill>
                <a:latin typeface="맑은 고딕"/>
                <a:ea typeface="맑은 고딕"/>
              </a:rPr>
              <a:t>ZUPT</a:t>
            </a: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 xml:space="preserve"> : v = 0  → 속도 오차 제거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en-US" altLang="ko-KR" sz="1300" b="1" dirty="0">
                <a:solidFill>
                  <a:srgbClr val="0F172A"/>
                </a:solidFill>
                <a:latin typeface="맑은 고딕"/>
                <a:ea typeface="맑은 고딕"/>
              </a:rPr>
              <a:t>Acc-static</a:t>
            </a: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 xml:space="preserve"> : f = -R</a:t>
            </a:r>
            <a:r>
              <a:rPr lang="en-US" altLang="ko-KR" sz="1300" baseline="30000" dirty="0">
                <a:solidFill>
                  <a:srgbClr val="1E293B"/>
                </a:solidFill>
                <a:latin typeface="맑은 고딕"/>
                <a:ea typeface="맑은 고딕"/>
              </a:rPr>
              <a:t>T</a:t>
            </a: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>·g  → Roll/Pitch + b</a:t>
            </a:r>
            <a:r>
              <a:rPr lang="en-US" altLang="ko-KR" sz="1300" baseline="-25000" dirty="0">
                <a:solidFill>
                  <a:srgbClr val="1E293B"/>
                </a:solidFill>
                <a:latin typeface="맑은 고딕"/>
                <a:ea typeface="맑은 고딕"/>
              </a:rPr>
              <a:t>a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en-US" altLang="ko-KR" sz="1300" b="1" dirty="0">
                <a:solidFill>
                  <a:srgbClr val="0F172A"/>
                </a:solidFill>
                <a:latin typeface="맑은 고딕"/>
                <a:ea typeface="맑은 고딕"/>
              </a:rPr>
              <a:t>ZARU</a:t>
            </a: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 xml:space="preserve"> : ω = 0  → b</a:t>
            </a:r>
            <a:r>
              <a:rPr lang="en-US" altLang="ko-KR" sz="1300" baseline="-25000" dirty="0">
                <a:solidFill>
                  <a:srgbClr val="1E293B"/>
                </a:solidFill>
                <a:latin typeface="맑은 고딕"/>
                <a:ea typeface="맑은 고딕"/>
              </a:rPr>
              <a:t>g</a:t>
            </a: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 xml:space="preserve"> 직접 추정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en-US" altLang="ko-KR" sz="1300" b="1" dirty="0">
                <a:solidFill>
                  <a:srgbClr val="0F172A"/>
                </a:solidFill>
                <a:latin typeface="맑은 고딕"/>
                <a:ea typeface="맑은 고딕"/>
              </a:rPr>
              <a:t>Mag</a:t>
            </a: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 xml:space="preserve"> : 지자기 벡터  → Yaw 결정</a:t>
            </a:r>
          </a:p>
          <a:p>
            <a:pPr marL="0" indent="0">
              <a:spcBef>
                <a:spcPts val="700"/>
              </a:spcBef>
              <a:buNone/>
            </a:pPr>
            <a:r>
              <a:rPr lang="ko-KR" altLang="en-US" sz="1500" b="1" dirty="0">
                <a:solidFill>
                  <a:srgbClr val="166534"/>
                </a:solidFill>
                <a:latin typeface="맑은 고딕"/>
                <a:ea typeface="맑은 고딕"/>
              </a:rPr>
              <a:t>효과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ko-KR" altLang="en-US" sz="1300" dirty="0">
                <a:solidFill>
                  <a:srgbClr val="1E293B"/>
                </a:solidFill>
                <a:latin typeface="맑은 고딕"/>
                <a:ea typeface="맑은 고딕"/>
              </a:rPr>
              <a:t>비행 진입 시 자세·바이어스·P 모두 사전 수렴</a:t>
            </a:r>
          </a:p>
        </p:txBody>
      </p:sp>
    </p:spTree>
    <p:extLst>
      <p:ext uri="{BB962C8B-B14F-4D97-AF65-F5344CB8AC3E}">
        <p14:creationId xmlns:p14="http://schemas.microsoft.com/office/powerpoint/2010/main" val="1453751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 dirty="0">
                <a:latin typeface="맑은 고딕"/>
                <a:ea typeface="맑은 고딕"/>
              </a:rPr>
              <a:t>Monte Carlo 검증 (N = 50)</a:t>
            </a:r>
          </a:p>
        </p:txBody>
      </p:sp>
      <p:pic>
        <p:nvPicPr>
          <p:cNvPr id="5" name="ComparisonPlo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00" y="1300000"/>
            <a:ext cx="5500000" cy="3709000"/>
          </a:xfrm>
          <a:prstGeom prst="rect">
            <a:avLst/>
          </a:prstGeom>
        </p:spPr>
      </p:pic>
      <p:sp>
        <p:nvSpPr>
          <p:cNvPr id="200" name="ResultPanelHeader"/>
          <p:cNvSpPr txBox="1"/>
          <p:nvPr/>
        </p:nvSpPr>
        <p:spPr>
          <a:xfrm>
            <a:off x="5800000" y="1300000"/>
            <a:ext cx="3144000" cy="450000"/>
          </a:xfrm>
          <a:prstGeom prst="rect">
            <a:avLst/>
          </a:prstGeom>
          <a:solidFill>
            <a:srgbClr val="0F62A6"/>
          </a:solidFill>
          <a:ln>
            <a:noFill/>
          </a:ln>
        </p:spPr>
        <p:txBody>
          <a:bodyPr wrap="square" lIns="120000" tIns="50000" rIns="120000" bIns="50000" anchor="ctr"/>
          <a:lstStyle/>
          <a:p>
            <a:pPr algn="l">
              <a:buNone/>
            </a:pPr>
            <a:r>
              <a:rPr lang="ko-KR" altLang="en-US" sz="1500" b="1" dirty="0">
                <a:solidFill>
                  <a:srgbClr val="FFFFFF"/>
                </a:solidFill>
                <a:latin typeface="맑은 고딕"/>
                <a:ea typeface="맑은 고딕"/>
              </a:rPr>
              <a:t>마지막 5초 평균 성능</a:t>
            </a:r>
          </a:p>
        </p:txBody>
      </p:sp>
      <p:sp>
        <p:nvSpPr>
          <p:cNvPr id="201" name="ResultTable"/>
          <p:cNvSpPr txBox="1"/>
          <p:nvPr/>
        </p:nvSpPr>
        <p:spPr>
          <a:xfrm>
            <a:off x="5800000" y="1750000"/>
            <a:ext cx="3144000" cy="2500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wrap="square" lIns="120000" tIns="120000" rIns="120000" bIns="120000" anchor="t"/>
          <a:lstStyle/>
          <a:p>
            <a:pPr marL="0" indent="0">
              <a:buNone/>
            </a:pPr>
            <a:r>
              <a:rPr lang="ko-KR" altLang="en-US" sz="1100" dirty="0">
                <a:solidFill>
                  <a:srgbClr val="475569"/>
                </a:solidFill>
                <a:latin typeface="맑은 고딕"/>
                <a:ea typeface="맑은 고딕"/>
              </a:rPr>
              <a:t>WITHOUT  →  WITH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맑은 고딕"/>
                <a:ea typeface="맑은 고딕"/>
              </a:rPr>
              <a:t>자세 오차</a:t>
            </a:r>
          </a:p>
          <a:p>
            <a:pPr marL="0" indent="0">
              <a:buNone/>
            </a:pPr>
            <a:r>
              <a:rPr lang="en-US" altLang="ko-KR" sz="1300" dirty="0">
                <a:solidFill>
                  <a:srgbClr val="1E293B"/>
                </a:solidFill>
                <a:latin typeface="맑은 고딕"/>
                <a:ea typeface="맑은 고딕"/>
              </a:rPr>
              <a:t xml:space="preserve">0.55°  →  </a:t>
            </a:r>
            <a:r>
              <a:rPr lang="en-US" altLang="ko-KR" sz="1300" b="1" dirty="0">
                <a:solidFill>
                  <a:srgbClr val="166534"/>
                </a:solidFill>
                <a:latin typeface="맑은 고딕"/>
                <a:ea typeface="맑은 고딕"/>
              </a:rPr>
              <a:t>0.25°  (2.2x↓)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맑은 고딕"/>
                <a:ea typeface="맑은 고딕"/>
              </a:rPr>
              <a:t>가속도 바이어스</a:t>
            </a:r>
          </a:p>
          <a:p>
            <a:pPr marL="0" indent="0">
              <a:buNone/>
            </a:pPr>
            <a:r>
              <a:rPr lang="en-US" altLang="ko-KR" sz="1300" dirty="0">
                <a:solidFill>
                  <a:srgbClr val="1E293B"/>
                </a:solidFill>
                <a:latin typeface="맑은 고딕"/>
                <a:ea typeface="맑은 고딕"/>
              </a:rPr>
              <a:t xml:space="preserve">0.030  →  </a:t>
            </a:r>
            <a:r>
              <a:rPr lang="en-US" altLang="ko-KR" sz="1300" b="1" dirty="0">
                <a:solidFill>
                  <a:srgbClr val="166534"/>
                </a:solidFill>
                <a:latin typeface="맑은 고딕"/>
                <a:ea typeface="맑은 고딕"/>
              </a:rPr>
              <a:t>0.010 m/s² (3x↓)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ko-KR" altLang="en-US" sz="1300" b="1" dirty="0">
                <a:solidFill>
                  <a:srgbClr val="0F172A"/>
                </a:solidFill>
                <a:latin typeface="맑은 고딕"/>
                <a:ea typeface="맑은 고딕"/>
              </a:rPr>
              <a:t>자이로 바이어스</a:t>
            </a:r>
          </a:p>
          <a:p>
            <a:pPr marL="0" indent="0">
              <a:buNone/>
            </a:pPr>
            <a:r>
              <a:rPr lang="en-US" altLang="ko-KR" sz="1300" dirty="0">
                <a:solidFill>
                  <a:srgbClr val="1E293B"/>
                </a:solidFill>
                <a:latin typeface="맑은 고딕"/>
                <a:ea typeface="맑은 고딕"/>
              </a:rPr>
              <a:t xml:space="preserve">0.05  →  </a:t>
            </a:r>
            <a:r>
              <a:rPr lang="en-US" altLang="ko-KR" sz="1300" b="1" dirty="0">
                <a:solidFill>
                  <a:srgbClr val="166534"/>
                </a:solidFill>
                <a:latin typeface="맑은 고딕"/>
                <a:ea typeface="맑은 고딕"/>
              </a:rPr>
              <a:t>0.025 deg/s (2x↓)</a:t>
            </a:r>
          </a:p>
          <a:p>
            <a:pPr marL="0" indent="0">
              <a:spcBef>
                <a:spcPts val="500"/>
              </a:spcBef>
              <a:buNone/>
            </a:pPr>
            <a:r>
              <a:rPr lang="en-US" altLang="ko-KR" sz="1300" b="1" dirty="0">
                <a:solidFill>
                  <a:srgbClr val="0F172A"/>
                </a:solidFill>
                <a:latin typeface="맑은 고딕"/>
                <a:ea typeface="맑은 고딕"/>
              </a:rPr>
              <a:t xml:space="preserve">NEES </a:t>
            </a:r>
            <a:r>
              <a:rPr lang="ko-KR" altLang="en-US" sz="1100" dirty="0">
                <a:solidFill>
                  <a:srgbClr val="475569"/>
                </a:solidFill>
                <a:latin typeface="맑은 고딕"/>
                <a:ea typeface="맑은 고딕"/>
              </a:rPr>
              <a:t>(이상값 = 6)</a:t>
            </a:r>
          </a:p>
          <a:p>
            <a:pPr marL="0" indent="0">
              <a:buNone/>
            </a:pPr>
            <a:r>
              <a:rPr lang="en-US" altLang="ko-KR" sz="1300" dirty="0">
                <a:solidFill>
                  <a:srgbClr val="1E293B"/>
                </a:solidFill>
                <a:latin typeface="맑은 고딕"/>
                <a:ea typeface="맑은 고딕"/>
              </a:rPr>
              <a:t xml:space="preserve">7~8  →  </a:t>
            </a:r>
            <a:r>
              <a:rPr lang="en-US" altLang="ko-KR" sz="1300" b="1" dirty="0">
                <a:solidFill>
                  <a:srgbClr val="166534"/>
                </a:solidFill>
                <a:latin typeface="맑은 고딕"/>
                <a:ea typeface="맑은 고딕"/>
              </a:rPr>
              <a:t>6.5 (일관성 확보)</a:t>
            </a:r>
          </a:p>
        </p:txBody>
      </p:sp>
      <p:sp>
        <p:nvSpPr>
          <p:cNvPr id="202" name="ConclusionBox"/>
          <p:cNvSpPr txBox="1"/>
          <p:nvPr/>
        </p:nvSpPr>
        <p:spPr>
          <a:xfrm>
            <a:off x="200000" y="5180000"/>
            <a:ext cx="8744000" cy="1450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lIns="200000" tIns="120000" rIns="200000" bIns="120000" anchor="t"/>
          <a:lstStyle/>
          <a:p>
            <a:pPr marL="0" indent="0">
              <a:buNone/>
            </a:pPr>
            <a:r>
              <a:rPr lang="ko-KR" altLang="en-US" sz="1400" b="1" dirty="0">
                <a:solidFill>
                  <a:srgbClr val="FCD34D"/>
                </a:solidFill>
                <a:latin typeface="맑은 고딕"/>
                <a:ea typeface="맑은 고딕"/>
              </a:rPr>
              <a:t>핵심 결론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ko-KR" altLang="en-US" sz="1300" dirty="0">
                <a:solidFill>
                  <a:srgbClr val="E2E8F0"/>
                </a:solidFill>
                <a:latin typeface="맑은 고딕"/>
                <a:ea typeface="맑은 고딕"/>
              </a:rPr>
              <a:t>비행 중 관측 불가능한 IMU 바이어스를 발사 전에 사전 제거 → 자세·속도 추정 일관성 보장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ko-KR" altLang="en-US" sz="1300" dirty="0">
                <a:solidFill>
                  <a:srgbClr val="E2E8F0"/>
                </a:solidFill>
                <a:latin typeface="맑은 고딕"/>
                <a:ea typeface="맑은 고딕"/>
              </a:rPr>
              <a:t>비행 0~10초 transient에서 자세 오차 최대 3.4° 발산 → 0.2° 안정 (canard 명령 정밀도 직결)</a:t>
            </a:r>
          </a:p>
          <a:p>
            <a:pPr marL="200000" indent="-200000">
              <a:spcBef>
                <a:spcPts val="300"/>
              </a:spcBef>
              <a:buFont typeface="Arial"/>
              <a:buChar char="•"/>
            </a:pPr>
            <a:r>
              <a:rPr lang="ko-KR" altLang="en-US" sz="1300" dirty="0">
                <a:solidFill>
                  <a:srgbClr val="E2E8F0"/>
                </a:solidFill>
                <a:latin typeface="맑은 고딕"/>
                <a:ea typeface="맑은 고딕"/>
              </a:rPr>
              <a:t>운용 비용 거의 없음 (발사대 정지 시간 &lt; 30 s 활용)</a:t>
            </a:r>
          </a:p>
        </p:txBody>
      </p:sp>
    </p:spTree>
    <p:extLst>
      <p:ext uri="{BB962C8B-B14F-4D97-AF65-F5344CB8AC3E}">
        <p14:creationId xmlns:p14="http://schemas.microsoft.com/office/powerpoint/2010/main" val="2417866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A4CD6-0F6F-CC61-BDCD-13ABE9F1C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b="1">
                <a:latin typeface="맑은 고딕"/>
                <a:ea typeface="맑은 고딕"/>
              </a:rPr>
              <a:t>향후 계획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91F5FA2-73F8-F009-5CC8-B6D181E864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92385"/>
            <a:ext cx="9144000" cy="267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40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2F5A20-E485-A85F-7CA9-3155A5604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en-US" altLang="ko-KR" b="1">
                <a:latin typeface="맑은 고딕"/>
                <a:ea typeface="맑은 고딕"/>
              </a:rPr>
              <a:t>Q &amp; A</a:t>
            </a:r>
            <a:endParaRPr lang="ko-KR" altLang="en-US" b="1">
              <a:latin typeface="맑은 고딕"/>
              <a:ea typeface="맑은 고딕"/>
            </a:endParaRPr>
          </a:p>
        </p:txBody>
      </p:sp>
    </p:spTree>
    <p:extLst>
      <p:ext uri="{BB962C8B-B14F-4D97-AF65-F5344CB8AC3E}">
        <p14:creationId xmlns:p14="http://schemas.microsoft.com/office/powerpoint/2010/main" val="28062121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BD679-C5FB-9297-1B98-0579DB07CA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57500"/>
            <a:ext cx="8229600" cy="1143000"/>
          </a:xfrm>
        </p:spPr>
        <p:txBody>
          <a:bodyPr/>
          <a:lstStyle/>
          <a:p>
            <a:r>
              <a:rPr lang="ko-KR" altLang="en-US" b="1">
                <a:latin typeface="맑은 고딕"/>
                <a:ea typeface="맑은 고딕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89731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맑은 고딕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 algn="l">
          <a:defRPr kumimoji="0" sz="1600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11750</TotalTime>
  <Words>95</Words>
  <Application>Microsoft Office PowerPoint</Application>
  <PresentationFormat>화면 슬라이드 쇼(4:3)</PresentationFormat>
  <Paragraphs>18</Paragraphs>
  <Slides>6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 맑은 고딕</vt:lpstr>
      <vt:lpstr>굴림</vt:lpstr>
      <vt:lpstr>맑은 고딕</vt:lpstr>
      <vt:lpstr>Arial</vt:lpstr>
      <vt:lpstr>Cambria Math</vt:lpstr>
      <vt:lpstr>Franklin Gothic Heavy</vt:lpstr>
      <vt:lpstr>Office 테마</vt:lpstr>
      <vt:lpstr>항공전자</vt:lpstr>
      <vt:lpstr>Error-State Extended Kalman Filter</vt:lpstr>
      <vt:lpstr>Error-State Extended Kalman Filter</vt:lpstr>
      <vt:lpstr>향후 계획</vt:lpstr>
      <vt:lpstr>Q &amp; A</vt:lpstr>
      <vt:lpstr>감사합니다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yes</dc:creator>
  <cp:lastModifiedBy>귀동 옥</cp:lastModifiedBy>
  <cp:revision>1915</cp:revision>
  <dcterms:created xsi:type="dcterms:W3CDTF">2010-10-01T13:05:05Z</dcterms:created>
  <dcterms:modified xsi:type="dcterms:W3CDTF">2026-05-05T12:18:04Z</dcterms:modified>
  <cp:version/>
</cp:coreProperties>
</file>